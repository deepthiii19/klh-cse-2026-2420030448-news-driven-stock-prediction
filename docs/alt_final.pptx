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6" r:id="rId2"/>
    <p:sldId id="260" r:id="rId3"/>
    <p:sldId id="278" r:id="rId4"/>
    <p:sldId id="321" r:id="rId5"/>
    <p:sldId id="326" r:id="rId6"/>
    <p:sldId id="323" r:id="rId7"/>
    <p:sldId id="336" r:id="rId8"/>
    <p:sldId id="324" r:id="rId9"/>
    <p:sldId id="277" r:id="rId10"/>
    <p:sldId id="320" r:id="rId11"/>
    <p:sldId id="328" r:id="rId12"/>
    <p:sldId id="330" r:id="rId13"/>
    <p:sldId id="332" r:id="rId14"/>
    <p:sldId id="333" r:id="rId15"/>
    <p:sldId id="335" r:id="rId16"/>
    <p:sldId id="334" r:id="rId17"/>
    <p:sldId id="327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yshu Reddy" userId="babfb1b9b6393475" providerId="LiveId" clId="{5B9CA9AC-C2A1-46EB-84B6-3CB2B069A75E}"/>
    <pc:docChg chg="undo custSel addSld delSld modSld sldOrd">
      <pc:chgData name="Vyshu Reddy" userId="babfb1b9b6393475" providerId="LiveId" clId="{5B9CA9AC-C2A1-46EB-84B6-3CB2B069A75E}" dt="2026-09-16T03:14:04.665" v="556" actId="255"/>
      <pc:docMkLst>
        <pc:docMk/>
      </pc:docMkLst>
      <pc:sldChg chg="modSp mod">
        <pc:chgData name="Vyshu Reddy" userId="babfb1b9b6393475" providerId="LiveId" clId="{5B9CA9AC-C2A1-46EB-84B6-3CB2B069A75E}" dt="2026-09-16T02:59:51.893" v="454" actId="27636"/>
        <pc:sldMkLst>
          <pc:docMk/>
          <pc:sldMk cId="2703969509" sldId="326"/>
        </pc:sldMkLst>
        <pc:spChg chg="mod">
          <ac:chgData name="Vyshu Reddy" userId="babfb1b9b6393475" providerId="LiveId" clId="{5B9CA9AC-C2A1-46EB-84B6-3CB2B069A75E}" dt="2026-09-16T02:59:51.893" v="454" actId="27636"/>
          <ac:spMkLst>
            <pc:docMk/>
            <pc:sldMk cId="2703969509" sldId="326"/>
            <ac:spMk id="5" creationId="{1C7B0B59-E773-3598-767E-554F3BF62EB8}"/>
          </ac:spMkLst>
        </pc:spChg>
      </pc:sldChg>
      <pc:sldChg chg="addSp delSp mod">
        <pc:chgData name="Vyshu Reddy" userId="babfb1b9b6393475" providerId="LiveId" clId="{5B9CA9AC-C2A1-46EB-84B6-3CB2B069A75E}" dt="2026-09-16T03:00:43.611" v="456" actId="22"/>
        <pc:sldMkLst>
          <pc:docMk/>
          <pc:sldMk cId="2019019020" sldId="331"/>
        </pc:sldMkLst>
        <pc:picChg chg="add">
          <ac:chgData name="Vyshu Reddy" userId="babfb1b9b6393475" providerId="LiveId" clId="{5B9CA9AC-C2A1-46EB-84B6-3CB2B069A75E}" dt="2026-09-16T03:00:43.611" v="456" actId="22"/>
          <ac:picMkLst>
            <pc:docMk/>
            <pc:sldMk cId="2019019020" sldId="331"/>
            <ac:picMk id="4" creationId="{5476422B-D666-7CE5-0D30-2202F26EF3A3}"/>
          </ac:picMkLst>
        </pc:picChg>
        <pc:picChg chg="del">
          <ac:chgData name="Vyshu Reddy" userId="babfb1b9b6393475" providerId="LiveId" clId="{5B9CA9AC-C2A1-46EB-84B6-3CB2B069A75E}" dt="2026-09-16T03:00:42.887" v="455" actId="478"/>
          <ac:picMkLst>
            <pc:docMk/>
            <pc:sldMk cId="2019019020" sldId="331"/>
            <ac:picMk id="5" creationId="{64FD3DFC-7A41-32A1-10A1-D365A97505EA}"/>
          </ac:picMkLst>
        </pc:picChg>
      </pc:sldChg>
      <pc:sldChg chg="addSp delSp modSp new mod">
        <pc:chgData name="Vyshu Reddy" userId="babfb1b9b6393475" providerId="LiveId" clId="{5B9CA9AC-C2A1-46EB-84B6-3CB2B069A75E}" dt="2026-09-16T03:06:56.221" v="503" actId="1076"/>
        <pc:sldMkLst>
          <pc:docMk/>
          <pc:sldMk cId="2526798178" sldId="332"/>
        </pc:sldMkLst>
        <pc:spChg chg="mod">
          <ac:chgData name="Vyshu Reddy" userId="babfb1b9b6393475" providerId="LiveId" clId="{5B9CA9AC-C2A1-46EB-84B6-3CB2B069A75E}" dt="2026-09-16T03:03:58.321" v="487" actId="207"/>
          <ac:spMkLst>
            <pc:docMk/>
            <pc:sldMk cId="2526798178" sldId="332"/>
            <ac:spMk id="2" creationId="{C0529E01-C554-8FDF-ED11-F90DE6F49856}"/>
          </ac:spMkLst>
        </pc:spChg>
        <pc:spChg chg="add mod">
          <ac:chgData name="Vyshu Reddy" userId="babfb1b9b6393475" providerId="LiveId" clId="{5B9CA9AC-C2A1-46EB-84B6-3CB2B069A75E}" dt="2026-09-16T03:06:10.252" v="497" actId="1076"/>
          <ac:spMkLst>
            <pc:docMk/>
            <pc:sldMk cId="2526798178" sldId="332"/>
            <ac:spMk id="6" creationId="{F0C2B2C0-09F0-5B61-7BEA-AF050AC218A8}"/>
          </ac:spMkLst>
        </pc:spChg>
        <pc:picChg chg="add del mod">
          <ac:chgData name="Vyshu Reddy" userId="babfb1b9b6393475" providerId="LiveId" clId="{5B9CA9AC-C2A1-46EB-84B6-3CB2B069A75E}" dt="2026-09-16T03:06:37.718" v="498" actId="478"/>
          <ac:picMkLst>
            <pc:docMk/>
            <pc:sldMk cId="2526798178" sldId="332"/>
            <ac:picMk id="4" creationId="{E0338DDF-D9C7-2EDE-2DE4-E47310265ED5}"/>
          </ac:picMkLst>
        </pc:picChg>
        <pc:picChg chg="add mod">
          <ac:chgData name="Vyshu Reddy" userId="babfb1b9b6393475" providerId="LiveId" clId="{5B9CA9AC-C2A1-46EB-84B6-3CB2B069A75E}" dt="2026-09-16T03:06:56.221" v="503" actId="1076"/>
          <ac:picMkLst>
            <pc:docMk/>
            <pc:sldMk cId="2526798178" sldId="332"/>
            <ac:picMk id="8" creationId="{25E6C814-62B7-DB53-C9FA-D9D34CF8BACC}"/>
          </ac:picMkLst>
        </pc:picChg>
      </pc:sldChg>
      <pc:sldChg chg="addSp delSp modSp new mod">
        <pc:chgData name="Vyshu Reddy" userId="babfb1b9b6393475" providerId="LiveId" clId="{5B9CA9AC-C2A1-46EB-84B6-3CB2B069A75E}" dt="2026-09-16T03:09:48.659" v="513" actId="478"/>
        <pc:sldMkLst>
          <pc:docMk/>
          <pc:sldMk cId="3317447023" sldId="333"/>
        </pc:sldMkLst>
        <pc:spChg chg="del mod">
          <ac:chgData name="Vyshu Reddy" userId="babfb1b9b6393475" providerId="LiveId" clId="{5B9CA9AC-C2A1-46EB-84B6-3CB2B069A75E}" dt="2026-09-16T03:09:37.392" v="512" actId="478"/>
          <ac:spMkLst>
            <pc:docMk/>
            <pc:sldMk cId="3317447023" sldId="333"/>
            <ac:spMk id="2" creationId="{0774A6BD-16CB-F951-B1C3-0B0028094638}"/>
          </ac:spMkLst>
        </pc:spChg>
        <pc:spChg chg="add del mod">
          <ac:chgData name="Vyshu Reddy" userId="babfb1b9b6393475" providerId="LiveId" clId="{5B9CA9AC-C2A1-46EB-84B6-3CB2B069A75E}" dt="2026-09-16T03:09:48.659" v="513" actId="478"/>
          <ac:spMkLst>
            <pc:docMk/>
            <pc:sldMk cId="3317447023" sldId="333"/>
            <ac:spMk id="6" creationId="{F2449EC1-8F1B-E8AA-F7C4-0EE8F91F1A03}"/>
          </ac:spMkLst>
        </pc:spChg>
        <pc:picChg chg="add">
          <ac:chgData name="Vyshu Reddy" userId="babfb1b9b6393475" providerId="LiveId" clId="{5B9CA9AC-C2A1-46EB-84B6-3CB2B069A75E}" dt="2026-09-16T03:09:29.092" v="504" actId="22"/>
          <ac:picMkLst>
            <pc:docMk/>
            <pc:sldMk cId="3317447023" sldId="333"/>
            <ac:picMk id="4" creationId="{40EAF16D-7E61-6455-DB23-660DB2959155}"/>
          </ac:picMkLst>
        </pc:picChg>
      </pc:sldChg>
      <pc:sldChg chg="addSp modSp new mod ord">
        <pc:chgData name="Vyshu Reddy" userId="babfb1b9b6393475" providerId="LiveId" clId="{5B9CA9AC-C2A1-46EB-84B6-3CB2B069A75E}" dt="2026-09-16T03:04:25.098" v="492"/>
        <pc:sldMkLst>
          <pc:docMk/>
          <pc:sldMk cId="1694175262" sldId="334"/>
        </pc:sldMkLst>
        <pc:spChg chg="mod">
          <ac:chgData name="Vyshu Reddy" userId="babfb1b9b6393475" providerId="LiveId" clId="{5B9CA9AC-C2A1-46EB-84B6-3CB2B069A75E}" dt="2026-09-16T03:04:11.660" v="490" actId="113"/>
          <ac:spMkLst>
            <pc:docMk/>
            <pc:sldMk cId="1694175262" sldId="334"/>
            <ac:spMk id="2" creationId="{0FCB1313-2AB6-6C60-C9CA-F6187B407558}"/>
          </ac:spMkLst>
        </pc:spChg>
        <pc:picChg chg="add mod">
          <ac:chgData name="Vyshu Reddy" userId="babfb1b9b6393475" providerId="LiveId" clId="{5B9CA9AC-C2A1-46EB-84B6-3CB2B069A75E}" dt="2026-09-16T03:03:18.388" v="481" actId="1076"/>
          <ac:picMkLst>
            <pc:docMk/>
            <pc:sldMk cId="1694175262" sldId="334"/>
            <ac:picMk id="4" creationId="{D8B25326-E7CA-FCAF-F440-71C8152CBA09}"/>
          </ac:picMkLst>
        </pc:picChg>
      </pc:sldChg>
      <pc:sldChg chg="addSp modSp new mod">
        <pc:chgData name="Vyshu Reddy" userId="babfb1b9b6393475" providerId="LiveId" clId="{5B9CA9AC-C2A1-46EB-84B6-3CB2B069A75E}" dt="2026-09-16T03:14:04.665" v="556" actId="255"/>
        <pc:sldMkLst>
          <pc:docMk/>
          <pc:sldMk cId="2095524884" sldId="335"/>
        </pc:sldMkLst>
        <pc:spChg chg="mod">
          <ac:chgData name="Vyshu Reddy" userId="babfb1b9b6393475" providerId="LiveId" clId="{5B9CA9AC-C2A1-46EB-84B6-3CB2B069A75E}" dt="2026-09-16T03:12:01.767" v="529" actId="20577"/>
          <ac:spMkLst>
            <pc:docMk/>
            <pc:sldMk cId="2095524884" sldId="335"/>
            <ac:spMk id="2" creationId="{7572179A-69DA-4CA9-682D-2A328AB0BF0A}"/>
          </ac:spMkLst>
        </pc:spChg>
        <pc:spChg chg="add mod">
          <ac:chgData name="Vyshu Reddy" userId="babfb1b9b6393475" providerId="LiveId" clId="{5B9CA9AC-C2A1-46EB-84B6-3CB2B069A75E}" dt="2026-09-16T03:14:04.665" v="556" actId="255"/>
          <ac:spMkLst>
            <pc:docMk/>
            <pc:sldMk cId="2095524884" sldId="335"/>
            <ac:spMk id="4" creationId="{B22ADB32-F0CA-BE0B-01A4-1AEDA4057E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aggle.com/datasets/williamtage/trace-acl18?utm_source=chatgpt.com&amp;select=TRACE_ACL18_joint_prediction_model_set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877933"/>
            <a:ext cx="7772400" cy="966856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IN" sz="3100" b="1" dirty="0"/>
              <a:t>AI-Based Financial News Sentiment Analysis for Stock Market Prediction</a:t>
            </a:r>
            <a:endParaRPr lang="en-US" sz="3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2117612"/>
            <a:ext cx="8458200" cy="2895600"/>
          </a:xfrm>
        </p:spPr>
        <p:txBody>
          <a:bodyPr>
            <a:normAutofit fontScale="25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72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72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Roopesh                        2420030359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72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Deepthi Anusha             2420030448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72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Vyshnavi                        2420030449</a:t>
            </a:r>
          </a:p>
          <a:p>
            <a:pPr algn="r">
              <a:lnSpc>
                <a:spcPct val="80000"/>
              </a:lnSpc>
              <a:defRPr/>
            </a:pPr>
            <a:endParaRPr lang="en-US" sz="55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55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11</a:t>
            </a:r>
          </a:p>
          <a:p>
            <a:pPr>
              <a:lnSpc>
                <a:spcPct val="80000"/>
              </a:lnSpc>
              <a:defRPr/>
            </a:pPr>
            <a:r>
              <a:rPr lang="en-US" sz="55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Section : 7</a:t>
            </a:r>
          </a:p>
          <a:p>
            <a:pPr>
              <a:lnSpc>
                <a:spcPct val="80000"/>
              </a:lnSpc>
              <a:defRPr/>
            </a:pPr>
            <a:r>
              <a:rPr lang="en-US" sz="55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Cluster 3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5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5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55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5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55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Dr. K. SWANTHANA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5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5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007" y="525780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85000" lnSpcReduction="20000"/>
          </a:bodyPr>
          <a:lstStyle/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Flow Diagram</a:t>
            </a:r>
          </a:p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with Justification</a:t>
            </a:r>
          </a:p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Survey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Gap Identification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</a:t>
            </a:r>
          </a:p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Plan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46035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599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  <a:cs typeface="Times New Roman" pitchFamily="18" charset="0"/>
              </a:rPr>
              <a:t>Abstract</a:t>
            </a:r>
            <a:endParaRPr lang="en-US" sz="3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Autofit/>
          </a:bodyPr>
          <a:lstStyle/>
          <a:p>
            <a:pPr lvl="0" algn="just"/>
            <a:r>
              <a:rPr lang="en-IN" sz="2600" dirty="0"/>
              <a:t>Financial news has a major impact on stock market movements. </a:t>
            </a:r>
          </a:p>
          <a:p>
            <a:pPr lvl="0" algn="just"/>
            <a:r>
              <a:rPr lang="en-IN" sz="2600" dirty="0"/>
              <a:t>The project uses AI and Natural Language Processing (NLP) to analyse news sentiment. </a:t>
            </a:r>
          </a:p>
          <a:p>
            <a:pPr lvl="0" algn="just"/>
            <a:r>
              <a:rPr lang="en-IN" sz="2600" dirty="0"/>
              <a:t>News is classified as Positive, Negative, or Neutral to predict market trends. </a:t>
            </a:r>
          </a:p>
          <a:p>
            <a:pPr lvl="0" algn="just"/>
            <a:r>
              <a:rPr lang="en-IN" sz="2600" dirty="0"/>
              <a:t>The system helps investors make faster and more informed decisions</a:t>
            </a:r>
            <a:r>
              <a:rPr lang="en-IN" sz="2400" dirty="0"/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6034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b="1" dirty="0">
                <a:solidFill>
                  <a:srgbClr val="0070C0"/>
                </a:solidFill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2600" dirty="0"/>
              <a:t>Stock prices are influenced by financial news and public sentiment. Manually analyzing large volumes of news is difficult and time-consuming, making investment decisions less effective.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2235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  <a:cs typeface="Times New Roman" pitchFamily="18" charset="0"/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7B0B59-E773-3598-767E-554F3BF62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600" dirty="0"/>
              <a:t>To overcome the limitations of historical-data-only stock prediction systems. </a:t>
            </a:r>
          </a:p>
          <a:p>
            <a:pPr lvl="0"/>
            <a:r>
              <a:rPr lang="en-IN" sz="2600" dirty="0"/>
              <a:t>To automatically analyse financial news using AI and NLP. </a:t>
            </a:r>
          </a:p>
          <a:p>
            <a:pPr lvl="0"/>
            <a:r>
              <a:rPr lang="en-IN" sz="2600" dirty="0"/>
              <a:t>To identify the sentiment of financial news as positive, negative, or neutral. </a:t>
            </a:r>
          </a:p>
          <a:p>
            <a:pPr lvl="0"/>
            <a:r>
              <a:rPr lang="en-IN" sz="2600" dirty="0"/>
              <a:t>To combine news sentiment with historical market data. </a:t>
            </a:r>
          </a:p>
          <a:p>
            <a:pPr lvl="0"/>
            <a:r>
              <a:rPr lang="en-IN" sz="2600" dirty="0"/>
              <a:t>To generate more relevant and informed stock trend predictions.</a:t>
            </a:r>
          </a:p>
          <a:p>
            <a:pPr lvl="0" algn="just"/>
            <a:endParaRPr lang="en-US" sz="2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832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04581"/>
            <a:ext cx="7467600" cy="944562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  <a:cs typeface="Times New Roman" pitchFamily="18" charset="0"/>
              </a:rPr>
              <a:t>Literature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4701"/>
            <a:ext cx="1295400" cy="6397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6AB79ACC-E0C4-4084-BB41-80D544439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546081"/>
              </p:ext>
            </p:extLst>
          </p:nvPr>
        </p:nvGraphicFramePr>
        <p:xfrm>
          <a:off x="457200" y="1600200"/>
          <a:ext cx="8229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813093419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424434275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4628653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215035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Paper Name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372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Tetlock</a:t>
                      </a:r>
                      <a:r>
                        <a:rPr lang="en-US" dirty="0"/>
                        <a:t> (2007)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Media 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end-to-end prediction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22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AZFin</a:t>
                      </a:r>
                      <a:r>
                        <a:rPr lang="en-US" dirty="0"/>
                        <a:t> (2009)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Traditional text representation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010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Bollen</a:t>
                      </a:r>
                      <a:r>
                        <a:rPr lang="en-US" dirty="0"/>
                        <a:t> et al. (2011)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Twitter Mood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social-media sentiment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611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Ding et al. (2015)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NTT +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845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Moore &amp; </a:t>
                      </a:r>
                      <a:r>
                        <a:rPr lang="en-US" dirty="0" err="1"/>
                        <a:t>Rayson</a:t>
                      </a:r>
                      <a:r>
                        <a:rPr lang="en-US" dirty="0"/>
                        <a:t> 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Financial Sentiment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Sentiment only, not stock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127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04581"/>
            <a:ext cx="7467600" cy="944562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  <a:cs typeface="Times New Roman" pitchFamily="18" charset="0"/>
              </a:rPr>
              <a:t>Literature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4701"/>
            <a:ext cx="1295400" cy="6397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6AB79ACC-E0C4-4084-BB41-80D544439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9621168"/>
              </p:ext>
            </p:extLst>
          </p:nvPr>
        </p:nvGraphicFramePr>
        <p:xfrm>
          <a:off x="457200" y="1600200"/>
          <a:ext cx="82296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813093419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424434275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84628653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215035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Paper Name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372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Xu &amp; Cohen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Deep Generative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Twitter-focused, complex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220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Araci</a:t>
                      </a:r>
                      <a:r>
                        <a:rPr lang="en-US" b="0" dirty="0"/>
                        <a:t>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FinBERT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Sentiment classification, not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010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LSTM + Technical + 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Market-specific;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611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News Sentiment Investment Strategy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Sentiment + Investment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Short-lived sentiment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845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Kaeley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Transformer + 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Computationally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127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91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6085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300" b="1" dirty="0">
                <a:solidFill>
                  <a:srgbClr val="0070C0"/>
                </a:solidFill>
                <a:cs typeface="Times New Roman" pitchFamily="18" charset="0"/>
              </a:rPr>
              <a:t>Research Gap Identification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A7B1-AE81-675E-BE7D-3D5A36D1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7073"/>
            <a:ext cx="8229600" cy="4983164"/>
          </a:xfrm>
        </p:spPr>
        <p:txBody>
          <a:bodyPr>
            <a:normAutofit/>
          </a:bodyPr>
          <a:lstStyle/>
          <a:p>
            <a:pPr lvl="0" algn="just"/>
            <a:r>
              <a:rPr lang="en-IN" sz="2600" dirty="0"/>
              <a:t>Most existing models primarily depend on historical stock price data. </a:t>
            </a:r>
          </a:p>
          <a:p>
            <a:pPr lvl="0" algn="just"/>
            <a:r>
              <a:rPr lang="en-IN" sz="2600" dirty="0"/>
              <a:t>Real-time financial news is not effectively utilized in many prediction systems. </a:t>
            </a:r>
          </a:p>
          <a:p>
            <a:pPr lvl="0" algn="just"/>
            <a:r>
              <a:rPr lang="en-IN" sz="2600" dirty="0"/>
              <a:t>Prediction accuracy remains a challenge due to dynamic market conditions. </a:t>
            </a:r>
          </a:p>
          <a:p>
            <a:pPr lvl="0" algn="just"/>
            <a:r>
              <a:rPr lang="en-IN" sz="2600" dirty="0"/>
              <a:t>There is a need for an integrated system that combines sentiment analysis with market trend prediction</a:t>
            </a:r>
            <a:r>
              <a:rPr lang="en-IN" sz="2400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06" y="0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574" y="205581"/>
            <a:ext cx="7696200" cy="68580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  <a:cs typeface="Times New Roman" pitchFamily="18" charset="0"/>
              </a:rPr>
              <a:t>Innovation</a:t>
            </a:r>
            <a:endParaRPr lang="en-IN" sz="3000" b="1" dirty="0">
              <a:solidFill>
                <a:srgbClr val="0070C0"/>
              </a:solidFill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>
            <a:normAutofit/>
          </a:bodyPr>
          <a:lstStyle/>
          <a:p>
            <a:pPr lvl="0" algn="just"/>
            <a:r>
              <a:rPr lang="en-IN" sz="2600" dirty="0"/>
              <a:t>Integrates AI and NLP techniques for automated financial news analysis. </a:t>
            </a:r>
          </a:p>
          <a:p>
            <a:pPr lvl="0" algn="just"/>
            <a:r>
              <a:rPr lang="en-IN" sz="2600" dirty="0"/>
              <a:t>Utilizes sentiment information to enhance stock market trend prediction. </a:t>
            </a:r>
          </a:p>
          <a:p>
            <a:pPr lvl="0" algn="just"/>
            <a:r>
              <a:rPr lang="en-IN" sz="2600" dirty="0"/>
              <a:t>Enables rapid processing of financial news for timely insights. </a:t>
            </a:r>
          </a:p>
          <a:p>
            <a:pPr lvl="0" algn="just"/>
            <a:r>
              <a:rPr lang="en-IN" sz="2600" dirty="0"/>
              <a:t>Supports data-driven decision-making through intelligent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037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  <a:cs typeface="Times New Roman" panose="02020603050405020304" pitchFamily="18" charset="0"/>
              </a:rPr>
              <a:t>Creativity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677EB-3C69-1E22-5FF9-F70E3FD99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1447135"/>
            <a:ext cx="8229600" cy="4525963"/>
          </a:xfrm>
        </p:spPr>
        <p:txBody>
          <a:bodyPr>
            <a:normAutofit/>
          </a:bodyPr>
          <a:lstStyle/>
          <a:p>
            <a:pPr lvl="0" algn="just"/>
            <a:r>
              <a:rPr lang="en-IN" sz="2600" dirty="0"/>
              <a:t>Presents sentiment analysis through an intuitive and interactive dashboard. </a:t>
            </a:r>
          </a:p>
          <a:p>
            <a:pPr lvl="0" algn="just"/>
            <a:r>
              <a:rPr lang="en-IN" sz="2600" dirty="0"/>
              <a:t>Visualizes financial news and predicted market trends in a simplified format. </a:t>
            </a:r>
          </a:p>
          <a:p>
            <a:pPr lvl="0" algn="just"/>
            <a:r>
              <a:rPr lang="en-IN" sz="2600" dirty="0"/>
              <a:t>Enhances accessibility of financial insights for users with varying expertise. </a:t>
            </a:r>
          </a:p>
          <a:p>
            <a:pPr lvl="0" algn="just"/>
            <a:r>
              <a:rPr lang="en-IN" sz="2600" dirty="0"/>
              <a:t>Promotes efficient interpretation of market sentiment using graphical representations.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F0BC-6827-5FED-A31A-785629DD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>
                <a:solidFill>
                  <a:srgbClr val="0070C0"/>
                </a:solidFill>
              </a:rPr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6A61B-99D6-A21B-F908-49499FA67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IN" sz="2800" dirty="0"/>
              <a:t>Combines financial-news sentiment analysis with market-trend prediction. </a:t>
            </a:r>
          </a:p>
          <a:p>
            <a:pPr lvl="0"/>
            <a:r>
              <a:rPr lang="en-IN" sz="2800" dirty="0"/>
              <a:t>Uses real-time news sentiment along with market data. </a:t>
            </a:r>
          </a:p>
          <a:p>
            <a:pPr lvl="0"/>
            <a:r>
              <a:rPr lang="en-IN" sz="2800" dirty="0"/>
              <a:t>Provides automated market insights through AI. </a:t>
            </a:r>
          </a:p>
          <a:p>
            <a:pPr lvl="0"/>
            <a:r>
              <a:rPr lang="en-IN" sz="2800" dirty="0"/>
              <a:t>Presents results in a single, user-friendly dashboard. </a:t>
            </a:r>
          </a:p>
          <a:p>
            <a:pPr lvl="0"/>
            <a:endParaRPr lang="en-IN" sz="2800" dirty="0"/>
          </a:p>
          <a:p>
            <a:pPr marL="0" lvl="0" indent="0">
              <a:buNone/>
            </a:pPr>
            <a:r>
              <a:rPr lang="en-IN" sz="3500" b="1" dirty="0">
                <a:solidFill>
                  <a:srgbClr val="0070C0"/>
                </a:solidFill>
              </a:rPr>
              <a:t>                                      Feasibility</a:t>
            </a:r>
          </a:p>
          <a:p>
            <a:pPr lvl="0"/>
            <a:endParaRPr lang="en-IN" sz="2800" dirty="0"/>
          </a:p>
          <a:p>
            <a:pPr lvl="0"/>
            <a:r>
              <a:rPr lang="en-IN" sz="2800" dirty="0"/>
              <a:t>Technically feasible using existing AI/ML tools and libraries. </a:t>
            </a:r>
          </a:p>
          <a:p>
            <a:pPr lvl="0"/>
            <a:r>
              <a:rPr lang="en-IN" sz="2800" dirty="0"/>
              <a:t>Cost-effective using open-source tools and datasets. </a:t>
            </a:r>
          </a:p>
          <a:p>
            <a:pPr lvl="0"/>
            <a:r>
              <a:rPr lang="en-IN" sz="2800" dirty="0"/>
              <a:t>Easy to implement and use through an interactive dashboard.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4CC3B-E466-9C69-D9B9-CF95CDD84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7039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221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7C40-44C3-25E8-E4EF-2D08AEC0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>
                <a:solidFill>
                  <a:srgbClr val="0070C0"/>
                </a:solidFill>
              </a:rPr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1CEFB-4421-C9AF-CBDB-95933FAAD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sz="2600" b="1" dirty="0"/>
              <a:t>Phase 1:</a:t>
            </a:r>
            <a:r>
              <a:rPr lang="en-IN" sz="2600" dirty="0"/>
              <a:t> Data collection and preprocessing of financial news articles. </a:t>
            </a:r>
          </a:p>
          <a:p>
            <a:pPr lvl="0" algn="just"/>
            <a:r>
              <a:rPr lang="en-IN" sz="2600" b="1" dirty="0"/>
              <a:t>Phase 2:</a:t>
            </a:r>
            <a:r>
              <a:rPr lang="en-IN" sz="2600" dirty="0"/>
              <a:t> Sentiment analysis using NLP and Machine Learning techniques. </a:t>
            </a:r>
          </a:p>
          <a:p>
            <a:pPr lvl="0" algn="just"/>
            <a:r>
              <a:rPr lang="en-IN" sz="2600" b="1" dirty="0"/>
              <a:t>Phase 3:</a:t>
            </a:r>
            <a:r>
              <a:rPr lang="en-IN" sz="2600" dirty="0"/>
              <a:t> Development and evaluation of the stock market prediction model. </a:t>
            </a:r>
          </a:p>
          <a:p>
            <a:pPr lvl="0" algn="just"/>
            <a:r>
              <a:rPr lang="en-IN" sz="2600" b="1" dirty="0"/>
              <a:t>Phase 4:</a:t>
            </a:r>
            <a:r>
              <a:rPr lang="en-IN" sz="2600" dirty="0"/>
              <a:t> Dashboard implementation, system testing, and project validation.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DE779-B5A7-173F-BCD7-DA83AB4BD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7276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9E01-C554-8FDF-ED11-F90DE6F4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dataset</a:t>
            </a:r>
            <a:endParaRPr lang="en-IN" sz="3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2B2C0-09F0-5B61-7BEA-AF050AC218A8}"/>
              </a:ext>
            </a:extLst>
          </p:cNvPr>
          <p:cNvSpPr txBox="1"/>
          <p:nvPr/>
        </p:nvSpPr>
        <p:spPr>
          <a:xfrm>
            <a:off x="533400" y="1089063"/>
            <a:ext cx="838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sng" dirty="0">
                <a:solidFill>
                  <a:schemeClr val="tx1"/>
                </a:solidFill>
                <a:effectLst/>
                <a:latin typeface="+mn-lt"/>
                <a:hlinkClick r:id="rId2"/>
              </a:rPr>
              <a:t>https://www.kaggle.com/datasets/williamtage/trace-acl18?utm_source=chatgpt.com&amp;select=TRACE_ACL18_joint_prediction_model_set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E6C814-62B7-DB53-C9FA-D9D34CF8B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32" y="1735394"/>
            <a:ext cx="7620000" cy="504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798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7DF0B3-3316-4BEF-B7F9-EF61BEE5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47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179A-69DA-4CA9-682D-2A328AB0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F566CC7-62B1-4D94-8C12-14CA856BD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263602"/>
              </p:ext>
            </p:extLst>
          </p:nvPr>
        </p:nvGraphicFramePr>
        <p:xfrm>
          <a:off x="0" y="1219200"/>
          <a:ext cx="8991600" cy="5179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976880104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609543082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874178569"/>
                    </a:ext>
                  </a:extLst>
                </a:gridCol>
              </a:tblGrid>
              <a:tr h="291737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Algorithm /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56801"/>
                  </a:ext>
                </a:extLst>
              </a:tr>
              <a:tr h="948146"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FinBERT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Analyzes financial news and generates </a:t>
                      </a:r>
                      <a:r>
                        <a:rPr lang="en-US" b="1"/>
                        <a:t>Positive, Negative, Neutral</a:t>
                      </a:r>
                      <a:r>
                        <a:rPr lang="en-US"/>
                        <a:t> sentiment scores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368753"/>
                  </a:ext>
                </a:extLst>
              </a:tr>
              <a:tr h="948146">
                <a:tc>
                  <a:txBody>
                    <a:bodyPr/>
                    <a:lstStyle/>
                    <a:p>
                      <a:r>
                        <a:rPr lang="en-US" b="1"/>
                        <a:t>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RSI (Relative Strength Index)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Captures price momentum / overbought–oversold 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853907"/>
                  </a:ext>
                </a:extLst>
              </a:tr>
              <a:tr h="729343">
                <a:tc>
                  <a:txBody>
                    <a:bodyPr/>
                    <a:lstStyle/>
                    <a:p>
                      <a:r>
                        <a:rPr lang="en-US" b="1"/>
                        <a:t>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MACD (Moving Average Convergence Divergence)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Captures market momentum and trend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12472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lang="en-US" b="1"/>
                        <a:t>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Gradient Boosting Classifier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Main </a:t>
                      </a:r>
                      <a:r>
                        <a:rPr lang="en-US" b="1"/>
                        <a:t>stock-direction prediction algorithm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08011"/>
                  </a:ext>
                </a:extLst>
              </a:tr>
              <a:tr h="729343">
                <a:tc>
                  <a:txBody>
                    <a:bodyPr/>
                    <a:lstStyle/>
                    <a:p>
                      <a:r>
                        <a:rPr lang="en-US" b="1"/>
                        <a:t>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StandardScaler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Normalizes the numerical features before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5416541"/>
                  </a:ext>
                </a:extLst>
              </a:tr>
              <a:tr h="948146">
                <a:tc>
                  <a:txBody>
                    <a:bodyPr/>
                    <a:lstStyle/>
                    <a:p>
                      <a:r>
                        <a:rPr lang="en-US" b="1"/>
                        <a:t>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Chronological Data Split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Separates data into training/validation/testing while preserving time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309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524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1313-2AB6-6C60-C9CA-F6187B40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result</a:t>
            </a:r>
            <a:endParaRPr lang="en-IN" sz="3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20F4F-06E8-5541-7E09-CF1856669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14" y="1219200"/>
            <a:ext cx="8898586" cy="454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75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734</Words>
  <Application>Microsoft Office PowerPoint</Application>
  <PresentationFormat>On-screen Show (4:3)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  AI-Based Financial News Sentiment Analysis for Stock Market Prediction</vt:lpstr>
      <vt:lpstr>Outline of the Presentation</vt:lpstr>
      <vt:lpstr>Abstract</vt:lpstr>
      <vt:lpstr>Problem Statement </vt:lpstr>
      <vt:lpstr>Objectives</vt:lpstr>
      <vt:lpstr>Literature Survey</vt:lpstr>
      <vt:lpstr>Literature Survey</vt:lpstr>
      <vt:lpstr>Research Gap Identification </vt:lpstr>
      <vt:lpstr>Innovation</vt:lpstr>
      <vt:lpstr>Creativity </vt:lpstr>
      <vt:lpstr>Novelty</vt:lpstr>
      <vt:lpstr>Project plan</vt:lpstr>
      <vt:lpstr>dataset</vt:lpstr>
      <vt:lpstr>PowerPoint Presentation</vt:lpstr>
      <vt:lpstr>Algorithms</vt:lpstr>
      <vt:lpstr>result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Roopesh Chalasani</cp:lastModifiedBy>
  <cp:revision>202</cp:revision>
  <dcterms:created xsi:type="dcterms:W3CDTF">2006-08-16T00:00:00Z</dcterms:created>
  <dcterms:modified xsi:type="dcterms:W3CDTF">2026-09-19T04:11:49Z</dcterms:modified>
</cp:coreProperties>
</file>